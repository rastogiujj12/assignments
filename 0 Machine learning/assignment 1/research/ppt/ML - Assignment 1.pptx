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27299C-78F9-1710-6387-07210CDEFE36}" v="1012" dt="2025-10-05T16:13:21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05/10/2025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 descr="A circular blue background with icons&#10;&#10;AI-generated content may be incorrect.">
            <a:extLst>
              <a:ext uri="{FF2B5EF4-FFF2-40B4-BE49-F238E27FC236}">
                <a16:creationId xmlns:a16="http://schemas.microsoft.com/office/drawing/2014/main" id="{23F5B02E-BFED-F984-618A-1BBA0C24D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" y="-5603"/>
            <a:ext cx="13186521" cy="6869205"/>
          </a:xfrm>
          <a:prstGeom prst="rect">
            <a:avLst/>
          </a:prstGeom>
        </p:spPr>
      </p:pic>
      <p:pic>
        <p:nvPicPr>
          <p:cNvPr id="7" name="Picture 6" descr="A dna molecule in the dark&#10;&#10;AI-generated content may be incorrect.">
            <a:extLst>
              <a:ext uri="{FF2B5EF4-FFF2-40B4-BE49-F238E27FC236}">
                <a16:creationId xmlns:a16="http://schemas.microsoft.com/office/drawing/2014/main" id="{85D3585E-5BB2-C1FF-D647-6A521C10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020000">
            <a:off x="-443398" y="428824"/>
            <a:ext cx="6019800" cy="3762375"/>
          </a:xfrm>
          <a:prstGeom prst="rect">
            <a:avLst/>
          </a:prstGeom>
        </p:spPr>
      </p:pic>
      <p:pic>
        <p:nvPicPr>
          <p:cNvPr id="10" name="Picture 9" descr="A white arrow pointing to the left&#10;&#10;AI-generated content may be incorrect.">
            <a:extLst>
              <a:ext uri="{FF2B5EF4-FFF2-40B4-BE49-F238E27FC236}">
                <a16:creationId xmlns:a16="http://schemas.microsoft.com/office/drawing/2014/main" id="{CE05073E-6453-FB31-DBBD-0DC6671DD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397" y="1569673"/>
            <a:ext cx="2151530" cy="2028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CEDF82-FD5F-75B1-D01F-51601E238C6C}"/>
              </a:ext>
            </a:extLst>
          </p:cNvPr>
          <p:cNvSpPr txBox="1"/>
          <p:nvPr/>
        </p:nvSpPr>
        <p:spPr>
          <a:xfrm>
            <a:off x="199626" y="4758455"/>
            <a:ext cx="613022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BLAST – Sequence alignment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Human Genome Project</a:t>
            </a:r>
            <a:endParaRPr lang="en-US" sz="28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Explosion of genomic data</a:t>
            </a:r>
          </a:p>
          <a:p>
            <a:pPr marL="285750" indent="-28575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</a:rPr>
              <a:t>Shift: Alignment to learning patterns</a:t>
            </a:r>
          </a:p>
          <a:p>
            <a:pPr marL="285750" indent="-285750">
              <a:buFont typeface="Arial"/>
              <a:buChar char="•"/>
            </a:pPr>
            <a:endParaRPr lang="en-GB" sz="2800" dirty="0">
              <a:solidFill>
                <a:schemeClr val="bg1"/>
              </a:solidFill>
            </a:endParaRPr>
          </a:p>
          <a:p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9AE3-E3CC-1670-587E-993C91CA6402}"/>
              </a:ext>
            </a:extLst>
          </p:cNvPr>
          <p:cNvSpPr txBox="1"/>
          <p:nvPr/>
        </p:nvSpPr>
        <p:spPr>
          <a:xfrm>
            <a:off x="9296107" y="4220179"/>
            <a:ext cx="2743200" cy="2308324"/>
          </a:xfrm>
          <a:prstGeom prst="rect">
            <a:avLst/>
          </a:prstGeom>
          <a:solidFill>
            <a:srgbClr val="000000">
              <a:alpha val="53000"/>
            </a:srgb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u="sng" dirty="0">
                <a:solidFill>
                  <a:schemeClr val="bg1"/>
                </a:solidFill>
                <a:ea typeface="+mn-lt"/>
                <a:cs typeface="+mn-lt"/>
              </a:rPr>
              <a:t>Sources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Altschul et al., 1990 (BLAST)</a:t>
            </a: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dirty="0">
                <a:solidFill>
                  <a:schemeClr val="bg1"/>
                </a:solidFill>
                <a:ea typeface="+mn-lt"/>
                <a:cs typeface="+mn-lt"/>
              </a:rPr>
              <a:t>International Human Genome Sequencing Consortium, 2001/2004 (HGP)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 algn="l">
              <a:buFont typeface="Arial"/>
              <a:buChar char="•"/>
            </a:pP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A48C3-23D4-6709-0396-71117968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Disease Diagnosis</a:t>
            </a:r>
          </a:p>
        </p:txBody>
      </p:sp>
      <p:pic>
        <p:nvPicPr>
          <p:cNvPr id="4" name="Content Placeholder 3" descr="A collage of images of various types of diseases&#10;&#10;AI-generated content may be incorrect.">
            <a:extLst>
              <a:ext uri="{FF2B5EF4-FFF2-40B4-BE49-F238E27FC236}">
                <a16:creationId xmlns:a16="http://schemas.microsoft.com/office/drawing/2014/main" id="{9BFB3639-B916-5F71-84F9-CC7C2CF70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142" y="1675227"/>
            <a:ext cx="8049716" cy="4394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A28711-495F-AEB7-49DF-77A8550D6F37}"/>
              </a:ext>
            </a:extLst>
          </p:cNvPr>
          <p:cNvSpPr txBox="1"/>
          <p:nvPr/>
        </p:nvSpPr>
        <p:spPr>
          <a:xfrm>
            <a:off x="2423790" y="6068660"/>
            <a:ext cx="76901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Source: Zhang et al., "Hinge attention network: A joint model for diabetic retinopathy severity grading," Applied Intelligence, 2022.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D3A758-D451-D9A5-A4FE-D104E4993387}"/>
              </a:ext>
            </a:extLst>
          </p:cNvPr>
          <p:cNvSpPr txBox="1"/>
          <p:nvPr/>
        </p:nvSpPr>
        <p:spPr>
          <a:xfrm>
            <a:off x="633695" y="6177517"/>
            <a:ext cx="109195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Source: Bian, X., Pan, H. and Zhang, K. et al. (2022) ‘Skin lesion image classification method based on extension theory and deep learning’, </a:t>
            </a:r>
            <a:r>
              <a:rPr lang="en-GB" i="1" dirty="0">
                <a:ea typeface="+mn-lt"/>
                <a:cs typeface="+mn-lt"/>
              </a:rPr>
              <a:t>Multimedia Tools and Applications</a:t>
            </a:r>
            <a:r>
              <a:rPr lang="en-GB" dirty="0">
                <a:ea typeface="+mn-lt"/>
                <a:cs typeface="+mn-lt"/>
              </a:rPr>
              <a:t>, 81, pp. 16389–16409.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20" name="Picture 19" descr="A diagram of a black circle&#10;&#10;AI-generated content may be incorrect.">
            <a:extLst>
              <a:ext uri="{FF2B5EF4-FFF2-40B4-BE49-F238E27FC236}">
                <a16:creationId xmlns:a16="http://schemas.microsoft.com/office/drawing/2014/main" id="{0727B159-9E2C-1E5C-B973-4AB3EA11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90" y="1390952"/>
            <a:ext cx="6454019" cy="468085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D0790F7-AF80-8D64-5B71-5641FE6CE17E}"/>
              </a:ext>
            </a:extLst>
          </p:cNvPr>
          <p:cNvSpPr txBox="1"/>
          <p:nvPr/>
        </p:nvSpPr>
        <p:spPr>
          <a:xfrm>
            <a:off x="2388605" y="6073608"/>
            <a:ext cx="753676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Source: </a:t>
            </a:r>
            <a:r>
              <a:rPr lang="en-GB" dirty="0" err="1">
                <a:ea typeface="+mn-lt"/>
                <a:cs typeface="+mn-lt"/>
              </a:rPr>
              <a:t>Quantpedia</a:t>
            </a:r>
            <a:r>
              <a:rPr lang="en-GB" dirty="0">
                <a:ea typeface="+mn-lt"/>
                <a:cs typeface="+mn-lt"/>
              </a:rPr>
              <a:t> – “BERT model (Bidirectional Encoder Representations from Transformers)”, accessed 5 Oct 2025</a:t>
            </a:r>
            <a:endParaRPr lang="en-US" dirty="0">
              <a:ea typeface="+mn-lt"/>
              <a:cs typeface="+mn-lt"/>
            </a:endParaRPr>
          </a:p>
          <a:p>
            <a:endParaRPr lang="en-GB" i="1" dirty="0">
              <a:ea typeface="+mn-lt"/>
              <a:cs typeface="+mn-lt"/>
            </a:endParaRPr>
          </a:p>
        </p:txBody>
      </p:sp>
      <p:pic>
        <p:nvPicPr>
          <p:cNvPr id="32" name="Picture 31" descr="A diagram of a process&#10;&#10;AI-generated content may be incorrect.">
            <a:extLst>
              <a:ext uri="{FF2B5EF4-FFF2-40B4-BE49-F238E27FC236}">
                <a16:creationId xmlns:a16="http://schemas.microsoft.com/office/drawing/2014/main" id="{AFB218EA-F33E-A463-2403-D2ABC5A43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515" y="1385454"/>
            <a:ext cx="3342969" cy="46874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2EA55-E784-E1E6-BEFC-861A969B2182}"/>
              </a:ext>
            </a:extLst>
          </p:cNvPr>
          <p:cNvSpPr txBox="1"/>
          <p:nvPr/>
        </p:nvSpPr>
        <p:spPr>
          <a:xfrm>
            <a:off x="10154249" y="1534279"/>
            <a:ext cx="2036417" cy="255454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u="sng" dirty="0"/>
              <a:t>Sources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Gulshan et al., 2016 (Google DR)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Esteva et al., 2017 (Stanford skin cancer AI)</a:t>
            </a:r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Ji et al., 2021 (DNABERT)</a:t>
            </a:r>
            <a:endParaRPr lang="en-GB" sz="1600" dirty="0"/>
          </a:p>
          <a:p>
            <a:pPr marL="285750" indent="-285750">
              <a:buFont typeface="Arial"/>
              <a:buChar char="•"/>
            </a:pPr>
            <a:endParaRPr lang="en-GB" sz="1600" dirty="0"/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24191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4" grpId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5B882-D946-C006-45CA-1F8F4B1E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curly ribbons&#10;&#10;AI-generated content may be incorrect.">
            <a:extLst>
              <a:ext uri="{FF2B5EF4-FFF2-40B4-BE49-F238E27FC236}">
                <a16:creationId xmlns:a16="http://schemas.microsoft.com/office/drawing/2014/main" id="{4D17A710-3620-7346-664A-B36CBC72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09" y="0"/>
            <a:ext cx="12185072" cy="76084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D31013-5ED3-1650-1321-009068299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4028A-6D9B-61C8-DE54-94DB5565CCC5}"/>
              </a:ext>
            </a:extLst>
          </p:cNvPr>
          <p:cNvSpPr/>
          <p:nvPr/>
        </p:nvSpPr>
        <p:spPr>
          <a:xfrm>
            <a:off x="2890" y="-2576"/>
            <a:ext cx="12168888" cy="7607069"/>
          </a:xfrm>
          <a:prstGeom prst="rect">
            <a:avLst/>
          </a:prstGeom>
          <a:solidFill>
            <a:srgbClr val="0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85524-3AD3-BA6C-E3C2-FC3CB90D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68" y="828194"/>
            <a:ext cx="11210925" cy="74483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</a:rPr>
              <a:t>Drug discovery and personalised medicine</a:t>
            </a:r>
            <a:endParaRPr lang="en-US" sz="4000" dirty="0">
              <a:solidFill>
                <a:schemeClr val="bg1"/>
              </a:solidFill>
            </a:endParaRPr>
          </a:p>
          <a:p>
            <a:pPr algn="ctr"/>
            <a:endParaRPr lang="en-US" sz="3100" kern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3" name="Picture 12" descr="A close-up of a dna&#10;&#10;AI-generated content may be incorrect.">
            <a:extLst>
              <a:ext uri="{FF2B5EF4-FFF2-40B4-BE49-F238E27FC236}">
                <a16:creationId xmlns:a16="http://schemas.microsoft.com/office/drawing/2014/main" id="{E5C799B9-7CC3-13E8-41A7-70AF497D7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448" y="1562245"/>
            <a:ext cx="7417377" cy="412605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C3E10EB-DFCE-20A3-0C2C-96FE8D0C7FD3}"/>
              </a:ext>
            </a:extLst>
          </p:cNvPr>
          <p:cNvSpPr txBox="1"/>
          <p:nvPr/>
        </p:nvSpPr>
        <p:spPr>
          <a:xfrm>
            <a:off x="373328" y="5690604"/>
            <a:ext cx="1142538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Source: </a:t>
            </a:r>
            <a:r>
              <a:rPr lang="en-GB" dirty="0">
                <a:ea typeface="+mn-lt"/>
                <a:cs typeface="+mn-lt"/>
              </a:rPr>
              <a:t>Brandes, N., Ofer, D., Peleg, Y., Rappoport, N. and </a:t>
            </a:r>
            <a:r>
              <a:rPr lang="en-GB" dirty="0" err="1">
                <a:ea typeface="+mn-lt"/>
                <a:cs typeface="+mn-lt"/>
              </a:rPr>
              <a:t>Linial</a:t>
            </a:r>
            <a:r>
              <a:rPr lang="en-GB" dirty="0">
                <a:ea typeface="+mn-lt"/>
                <a:cs typeface="+mn-lt"/>
              </a:rPr>
              <a:t>, M. (2022) ‘</a:t>
            </a:r>
            <a:r>
              <a:rPr lang="en-GB" dirty="0" err="1">
                <a:ea typeface="+mn-lt"/>
                <a:cs typeface="+mn-lt"/>
              </a:rPr>
              <a:t>ProteinBERT</a:t>
            </a:r>
            <a:r>
              <a:rPr lang="en-GB" dirty="0">
                <a:ea typeface="+mn-lt"/>
                <a:cs typeface="+mn-lt"/>
              </a:rPr>
              <a:t>: a universal deep-learning model of protein sequence and function’, </a:t>
            </a:r>
            <a:r>
              <a:rPr lang="en-GB" i="1" dirty="0">
                <a:ea typeface="+mn-lt"/>
                <a:cs typeface="+mn-lt"/>
              </a:rPr>
              <a:t>Bioinformatics</a:t>
            </a:r>
            <a:r>
              <a:rPr lang="en-GB" dirty="0">
                <a:ea typeface="+mn-lt"/>
                <a:cs typeface="+mn-lt"/>
              </a:rPr>
              <a:t>, 38(8), pp. 2102–2110.</a:t>
            </a:r>
            <a:endParaRPr lang="en-US" dirty="0"/>
          </a:p>
          <a:p>
            <a:endParaRPr lang="en-GB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0C03AC2-E83D-ECAC-7F3C-493E66C49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017" y="6134116"/>
            <a:ext cx="7813964" cy="476820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>
                <a:ea typeface="+mn-lt"/>
                <a:cs typeface="+mn-lt"/>
              </a:rPr>
              <a:t>Brandes, N., Ofer, D., Peleg, Y., Rappoport, N. and </a:t>
            </a:r>
            <a:r>
              <a:rPr lang="en-GB" err="1">
                <a:ea typeface="+mn-lt"/>
                <a:cs typeface="+mn-lt"/>
              </a:rPr>
              <a:t>Linial</a:t>
            </a:r>
            <a:r>
              <a:rPr lang="en-GB" dirty="0">
                <a:ea typeface="+mn-lt"/>
                <a:cs typeface="+mn-lt"/>
              </a:rPr>
              <a:t>, M. (2022) ‘</a:t>
            </a:r>
            <a:r>
              <a:rPr lang="en-GB" err="1">
                <a:ea typeface="+mn-lt"/>
                <a:cs typeface="+mn-lt"/>
              </a:rPr>
              <a:t>ProteinBERT</a:t>
            </a:r>
            <a:r>
              <a:rPr lang="en-GB" dirty="0">
                <a:ea typeface="+mn-lt"/>
                <a:cs typeface="+mn-lt"/>
              </a:rPr>
              <a:t>: a universal deep-learning model of protein sequence and function’, </a:t>
            </a:r>
            <a:r>
              <a:rPr lang="en-GB" i="1" dirty="0">
                <a:ea typeface="+mn-lt"/>
                <a:cs typeface="+mn-lt"/>
              </a:rPr>
              <a:t>Bioinformatics</a:t>
            </a:r>
            <a:r>
              <a:rPr lang="en-GB" dirty="0">
                <a:ea typeface="+mn-lt"/>
                <a:cs typeface="+mn-lt"/>
              </a:rPr>
              <a:t>, 38(8), pp. 2102–2110.</a:t>
            </a:r>
            <a:endParaRPr lang="en-GB" dirty="0"/>
          </a:p>
        </p:txBody>
      </p:sp>
      <p:pic>
        <p:nvPicPr>
          <p:cNvPr id="22" name="Picture 21" descr="A diagram of a company&#10;&#10;AI-generated content may be incorrect.">
            <a:extLst>
              <a:ext uri="{FF2B5EF4-FFF2-40B4-BE49-F238E27FC236}">
                <a16:creationId xmlns:a16="http://schemas.microsoft.com/office/drawing/2014/main" id="{78FC67C1-EE92-6A4D-6E71-45EE250D7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47" y="1489362"/>
            <a:ext cx="3957580" cy="4634142"/>
          </a:xfrm>
          <a:prstGeom prst="rect">
            <a:avLst/>
          </a:prstGeom>
        </p:spPr>
      </p:pic>
      <p:pic>
        <p:nvPicPr>
          <p:cNvPr id="23" name="Picture 22" descr="A green and white sign with a black background&#10;&#10;AI-generated content may be incorrect.">
            <a:extLst>
              <a:ext uri="{FF2B5EF4-FFF2-40B4-BE49-F238E27FC236}">
                <a16:creationId xmlns:a16="http://schemas.microsoft.com/office/drawing/2014/main" id="{9303548B-4D07-4C45-31CD-DE294C0F9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784" y="1493693"/>
            <a:ext cx="6096000" cy="2828925"/>
          </a:xfrm>
          <a:prstGeom prst="rect">
            <a:avLst/>
          </a:prstGeom>
        </p:spPr>
      </p:pic>
      <p:pic>
        <p:nvPicPr>
          <p:cNvPr id="24" name="Picture 23" descr="A blue and black logo&#10;&#10;AI-generated content may be incorrect.">
            <a:extLst>
              <a:ext uri="{FF2B5EF4-FFF2-40B4-BE49-F238E27FC236}">
                <a16:creationId xmlns:a16="http://schemas.microsoft.com/office/drawing/2014/main" id="{23C341B5-57F1-9A87-DB3C-A6CEA3D968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0477" y="4257387"/>
            <a:ext cx="8924925" cy="1428750"/>
          </a:xfrm>
          <a:prstGeom prst="rect">
            <a:avLst/>
          </a:prstGeom>
        </p:spPr>
      </p:pic>
      <p:pic>
        <p:nvPicPr>
          <p:cNvPr id="27" name="Picture 26" descr="A scissor and dna strand&#10;&#10;AI-generated content may be incorrect.">
            <a:extLst>
              <a:ext uri="{FF2B5EF4-FFF2-40B4-BE49-F238E27FC236}">
                <a16:creationId xmlns:a16="http://schemas.microsoft.com/office/drawing/2014/main" id="{9F94910D-2B50-FCAD-F555-A3DE6A02F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2045" y="1493982"/>
            <a:ext cx="6904181" cy="4851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8C57C9A-794F-07E3-473B-AE373D273297}"/>
              </a:ext>
            </a:extLst>
          </p:cNvPr>
          <p:cNvSpPr txBox="1"/>
          <p:nvPr/>
        </p:nvSpPr>
        <p:spPr>
          <a:xfrm>
            <a:off x="369824" y="2765813"/>
            <a:ext cx="384001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Azimuth</a:t>
            </a:r>
            <a:endParaRPr lang="en-US" sz="4000">
              <a:solidFill>
                <a:schemeClr val="bg1"/>
              </a:solidFill>
            </a:endParaRPr>
          </a:p>
          <a:p>
            <a:pPr marL="285750" indent="-285750" algn="l">
              <a:buFont typeface="Arial"/>
              <a:buChar char="•"/>
            </a:pPr>
            <a:r>
              <a:rPr lang="en-GB" sz="4000" dirty="0">
                <a:solidFill>
                  <a:schemeClr val="bg1"/>
                </a:solidFill>
              </a:rPr>
              <a:t>Elevation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170908-9C92-5240-6C78-BA903EE65B5D}"/>
              </a:ext>
            </a:extLst>
          </p:cNvPr>
          <p:cNvSpPr txBox="1"/>
          <p:nvPr/>
        </p:nvSpPr>
        <p:spPr>
          <a:xfrm>
            <a:off x="9339700" y="1640414"/>
            <a:ext cx="2842591" cy="2246769"/>
          </a:xfrm>
          <a:prstGeom prst="rect">
            <a:avLst/>
          </a:prstGeom>
          <a:solidFill>
            <a:srgbClr val="000000">
              <a:alpha val="27000"/>
            </a:srgbClr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400" dirty="0">
                <a:solidFill>
                  <a:srgbClr val="FFFFFF"/>
                </a:solidFill>
              </a:rPr>
              <a:t>Sources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Jumper et al., 2021 (AlphaFold 2, Nature)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 Brandes et al., 2022 (</a:t>
            </a:r>
            <a:r>
              <a:rPr lang="en-GB" sz="1400" dirty="0" err="1">
                <a:solidFill>
                  <a:srgbClr val="FFFFFF"/>
                </a:solidFill>
                <a:ea typeface="+mn-lt"/>
                <a:cs typeface="+mn-lt"/>
              </a:rPr>
              <a:t>ProteinBERT</a:t>
            </a: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Doench et al., 2016 (Azimuth, Nature Biotechnology)</a:t>
            </a:r>
            <a:endParaRPr lang="en-GB" sz="1400" dirty="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GB" sz="1400" dirty="0" err="1">
                <a:solidFill>
                  <a:srgbClr val="FFFFFF"/>
                </a:solidFill>
                <a:ea typeface="+mn-lt"/>
                <a:cs typeface="+mn-lt"/>
              </a:rPr>
              <a:t>Listgarten</a:t>
            </a:r>
            <a:r>
              <a:rPr lang="en-GB" sz="1400" dirty="0">
                <a:solidFill>
                  <a:srgbClr val="FFFFFF"/>
                </a:solidFill>
                <a:ea typeface="+mn-lt"/>
                <a:cs typeface="+mn-lt"/>
              </a:rPr>
              <a:t> et al., 2018 (Elevation, Genome Biology)</a:t>
            </a:r>
            <a:endParaRPr lang="en-GB" sz="1400" dirty="0">
              <a:solidFill>
                <a:srgbClr val="FFFFFF"/>
              </a:solidFill>
            </a:endParaRPr>
          </a:p>
          <a:p>
            <a:pPr algn="l"/>
            <a:endParaRPr lang="en-GB" sz="1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20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6" grpId="1"/>
      <p:bldP spid="19" grpId="0" build="p"/>
      <p:bldP spid="19" grpId="1" build="p"/>
      <p:bldP spid="2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Disease Diagnosis</vt:lpstr>
      <vt:lpstr>Drug discovery and personalised medicine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371</cp:revision>
  <dcterms:created xsi:type="dcterms:W3CDTF">2025-10-05T11:29:35Z</dcterms:created>
  <dcterms:modified xsi:type="dcterms:W3CDTF">2025-10-05T16:18:02Z</dcterms:modified>
</cp:coreProperties>
</file>