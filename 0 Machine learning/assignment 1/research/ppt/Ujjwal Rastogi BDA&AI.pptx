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7299C-78F9-1710-6387-07210CDEFE36}" v="1158" dt="2025-10-05T17:23:54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A circular blue background with icons&#10;&#10;AI-generated content may be incorrect.">
            <a:extLst>
              <a:ext uri="{FF2B5EF4-FFF2-40B4-BE49-F238E27FC236}">
                <a16:creationId xmlns:a16="http://schemas.microsoft.com/office/drawing/2014/main" id="{23F5B02E-BFED-F984-618A-1BBA0C24D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" y="-5603"/>
            <a:ext cx="13186521" cy="6869205"/>
          </a:xfrm>
          <a:prstGeom prst="rect">
            <a:avLst/>
          </a:prstGeom>
        </p:spPr>
      </p:pic>
      <p:pic>
        <p:nvPicPr>
          <p:cNvPr id="7" name="Picture 6" descr="A dna molecule in the dark&#10;&#10;AI-generated content may be incorrect.">
            <a:extLst>
              <a:ext uri="{FF2B5EF4-FFF2-40B4-BE49-F238E27FC236}">
                <a16:creationId xmlns:a16="http://schemas.microsoft.com/office/drawing/2014/main" id="{85D3585E-5BB2-C1FF-D647-6A521C10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020000">
            <a:off x="-443398" y="428824"/>
            <a:ext cx="6019800" cy="3762375"/>
          </a:xfrm>
          <a:prstGeom prst="rect">
            <a:avLst/>
          </a:prstGeom>
        </p:spPr>
      </p:pic>
      <p:pic>
        <p:nvPicPr>
          <p:cNvPr id="10" name="Picture 9" descr="A white arrow pointing to the left&#10;&#10;AI-generated content may be incorrect.">
            <a:extLst>
              <a:ext uri="{FF2B5EF4-FFF2-40B4-BE49-F238E27FC236}">
                <a16:creationId xmlns:a16="http://schemas.microsoft.com/office/drawing/2014/main" id="{CE05073E-6453-FB31-DBBD-0DC6671DD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397" y="1569673"/>
            <a:ext cx="2151530" cy="2028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6E9AE3-E3CC-1670-587E-993C91CA6402}"/>
              </a:ext>
            </a:extLst>
          </p:cNvPr>
          <p:cNvSpPr txBox="1"/>
          <p:nvPr/>
        </p:nvSpPr>
        <p:spPr>
          <a:xfrm>
            <a:off x="9296107" y="4220179"/>
            <a:ext cx="2743200" cy="2308324"/>
          </a:xfrm>
          <a:prstGeom prst="rect">
            <a:avLst/>
          </a:prstGeom>
          <a:solidFill>
            <a:srgbClr val="000000">
              <a:alpha val="53000"/>
            </a:srgbClr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u="sng" dirty="0">
                <a:solidFill>
                  <a:schemeClr val="bg1"/>
                </a:solidFill>
                <a:ea typeface="+mn-lt"/>
                <a:cs typeface="+mn-lt"/>
              </a:rPr>
              <a:t>Sources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Altschul et al., 1990 (BLAST)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International Human Genome Sequencing Consortium, 2001/2004 (HGP)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1" name="Picture 10" descr="A black background with colorful squares&#10;&#10;AI-generated content may be incorrect.">
            <a:extLst>
              <a:ext uri="{FF2B5EF4-FFF2-40B4-BE49-F238E27FC236}">
                <a16:creationId xmlns:a16="http://schemas.microsoft.com/office/drawing/2014/main" id="{14A468E9-6373-E898-DF2B-9E75758A9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47" y="4061582"/>
            <a:ext cx="5040520" cy="2798832"/>
          </a:xfrm>
          <a:prstGeom prst="rect">
            <a:avLst/>
          </a:prstGeom>
        </p:spPr>
      </p:pic>
      <p:pic>
        <p:nvPicPr>
          <p:cNvPr id="14" name="Picture 13" descr="A person with arms up in the air&#10;&#10;AI-generated content may be incorrect.">
            <a:extLst>
              <a:ext uri="{FF2B5EF4-FFF2-40B4-BE49-F238E27FC236}">
                <a16:creationId xmlns:a16="http://schemas.microsoft.com/office/drawing/2014/main" id="{DBD692E6-667A-784B-767F-545625C79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123" y="4659037"/>
            <a:ext cx="20764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A48C3-23D4-6709-0396-71117968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Disease Diagnosis</a:t>
            </a:r>
          </a:p>
        </p:txBody>
      </p:sp>
      <p:pic>
        <p:nvPicPr>
          <p:cNvPr id="4" name="Content Placeholder 3" descr="A collage of images of various types of diseases&#10;&#10;AI-generated content may be incorrect.">
            <a:extLst>
              <a:ext uri="{FF2B5EF4-FFF2-40B4-BE49-F238E27FC236}">
                <a16:creationId xmlns:a16="http://schemas.microsoft.com/office/drawing/2014/main" id="{9BFB3639-B916-5F71-84F9-CC7C2CF70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577" y="1498532"/>
            <a:ext cx="4593109" cy="24726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A28711-495F-AEB7-49DF-77A8550D6F37}"/>
              </a:ext>
            </a:extLst>
          </p:cNvPr>
          <p:cNvSpPr txBox="1"/>
          <p:nvPr/>
        </p:nvSpPr>
        <p:spPr>
          <a:xfrm>
            <a:off x="4985877" y="1529790"/>
            <a:ext cx="159415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dirty="0">
                <a:ea typeface="+mn-lt"/>
                <a:cs typeface="+mn-lt"/>
              </a:rPr>
              <a:t>Source: Zhang et al., "Hinge attention network: A joint model for diabetic retinopathy severity grading," Applied Intelligence, 2022.</a:t>
            </a:r>
            <a:endParaRPr lang="en-US" sz="1200">
              <a:ea typeface="+mn-lt"/>
              <a:cs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3A758-D451-D9A5-A4FE-D104E4993387}"/>
              </a:ext>
            </a:extLst>
          </p:cNvPr>
          <p:cNvSpPr txBox="1"/>
          <p:nvPr/>
        </p:nvSpPr>
        <p:spPr>
          <a:xfrm>
            <a:off x="4465782" y="4079256"/>
            <a:ext cx="200749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dirty="0">
                <a:ea typeface="+mn-lt"/>
                <a:cs typeface="+mn-lt"/>
              </a:rPr>
              <a:t>Source: Bian, X., Pan, H. and Zhang, K. et al. (2022) ‘Skin lesion image classification method based on extension theory and deep learning’, </a:t>
            </a:r>
            <a:r>
              <a:rPr lang="en-GB" sz="1200" i="1" dirty="0">
                <a:ea typeface="+mn-lt"/>
                <a:cs typeface="+mn-lt"/>
              </a:rPr>
              <a:t>Multimedia Tools and Applications</a:t>
            </a:r>
            <a:r>
              <a:rPr lang="en-GB" sz="1200" dirty="0">
                <a:ea typeface="+mn-lt"/>
                <a:cs typeface="+mn-lt"/>
              </a:rPr>
              <a:t>, 81, pp. 16389–16409.</a:t>
            </a:r>
            <a:endParaRPr lang="en-US" sz="1200">
              <a:ea typeface="+mn-lt"/>
              <a:cs typeface="+mn-lt"/>
            </a:endParaRPr>
          </a:p>
        </p:txBody>
      </p:sp>
      <p:pic>
        <p:nvPicPr>
          <p:cNvPr id="20" name="Picture 19" descr="A diagram of a black circle&#10;&#10;AI-generated content may be incorrect.">
            <a:extLst>
              <a:ext uri="{FF2B5EF4-FFF2-40B4-BE49-F238E27FC236}">
                <a16:creationId xmlns:a16="http://schemas.microsoft.com/office/drawing/2014/main" id="{0727B159-9E2C-1E5C-B973-4AB3EA11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8" y="4074517"/>
            <a:ext cx="3836715" cy="263781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D0790F7-AF80-8D64-5B71-5641FE6CE17E}"/>
              </a:ext>
            </a:extLst>
          </p:cNvPr>
          <p:cNvSpPr txBox="1"/>
          <p:nvPr/>
        </p:nvSpPr>
        <p:spPr>
          <a:xfrm>
            <a:off x="10306779" y="5046565"/>
            <a:ext cx="160641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dirty="0">
                <a:ea typeface="+mn-lt"/>
                <a:cs typeface="+mn-lt"/>
              </a:rPr>
              <a:t>Source: </a:t>
            </a:r>
            <a:r>
              <a:rPr lang="en-GB" sz="1200" err="1">
                <a:ea typeface="+mn-lt"/>
                <a:cs typeface="+mn-lt"/>
              </a:rPr>
              <a:t>Quantpedia</a:t>
            </a:r>
            <a:r>
              <a:rPr lang="en-GB" sz="1200" dirty="0">
                <a:ea typeface="+mn-lt"/>
                <a:cs typeface="+mn-lt"/>
              </a:rPr>
              <a:t> – “BERT model (Bidirectional Encoder Representations from Transformers)”, accessed 5 Oct 2025</a:t>
            </a:r>
            <a:endParaRPr lang="en-US" sz="1200">
              <a:ea typeface="+mn-lt"/>
              <a:cs typeface="+mn-lt"/>
            </a:endParaRPr>
          </a:p>
          <a:p>
            <a:endParaRPr lang="en-GB" sz="1200" i="1" dirty="0">
              <a:ea typeface="+mn-lt"/>
              <a:cs typeface="+mn-lt"/>
            </a:endParaRPr>
          </a:p>
        </p:txBody>
      </p:sp>
      <p:pic>
        <p:nvPicPr>
          <p:cNvPr id="32" name="Picture 31" descr="A diagram of a process&#10;&#10;AI-generated content may be incorrect.">
            <a:extLst>
              <a:ext uri="{FF2B5EF4-FFF2-40B4-BE49-F238E27FC236}">
                <a16:creationId xmlns:a16="http://schemas.microsoft.com/office/drawing/2014/main" id="{AFB218EA-F33E-A463-2403-D2ABC5A43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602" y="1385453"/>
            <a:ext cx="3839925" cy="5316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92EA55-E784-E1E6-BEFC-861A969B2182}"/>
              </a:ext>
            </a:extLst>
          </p:cNvPr>
          <p:cNvSpPr txBox="1"/>
          <p:nvPr/>
        </p:nvSpPr>
        <p:spPr>
          <a:xfrm>
            <a:off x="10154249" y="1534279"/>
            <a:ext cx="2036417" cy="255454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600" u="sng" dirty="0"/>
              <a:t>Sources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Gulshan et al., 2016 (Google DR)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Esteva et al., 2017 (Stanford skin cancer AI)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Ji et al., 2021 (DNABERT)</a:t>
            </a:r>
            <a:endParaRPr lang="en-GB" sz="1600" dirty="0"/>
          </a:p>
          <a:p>
            <a:pPr marL="285750" indent="-285750">
              <a:buFont typeface="Arial"/>
              <a:buChar char="•"/>
            </a:pPr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241911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5B882-D946-C006-45CA-1F8F4B1E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D31013-5ED3-1650-1321-009068299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85524-3AD3-BA6C-E3C2-FC3CB90D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168" y="828194"/>
            <a:ext cx="11210925" cy="7448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Drug discovery and personalised medicine</a:t>
            </a:r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3100" kern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Picture 12" descr="A close-up of a dna&#10;&#10;AI-generated content may be incorrect.">
            <a:extLst>
              <a:ext uri="{FF2B5EF4-FFF2-40B4-BE49-F238E27FC236}">
                <a16:creationId xmlns:a16="http://schemas.microsoft.com/office/drawing/2014/main" id="{E5C799B9-7CC3-13E8-41A7-70AF497D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1509" y="1407637"/>
            <a:ext cx="4987812" cy="27124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3E10EB-DFCE-20A3-0C2C-96FE8D0C7FD3}"/>
              </a:ext>
            </a:extLst>
          </p:cNvPr>
          <p:cNvSpPr txBox="1"/>
          <p:nvPr/>
        </p:nvSpPr>
        <p:spPr>
          <a:xfrm>
            <a:off x="4117067" y="6043995"/>
            <a:ext cx="395999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dirty="0"/>
              <a:t>Source: </a:t>
            </a:r>
            <a:r>
              <a:rPr lang="en-GB" sz="1200" dirty="0">
                <a:ea typeface="+mn-lt"/>
                <a:cs typeface="+mn-lt"/>
              </a:rPr>
              <a:t>Brandes, N., Ofer, D., Peleg, Y., Rappoport, N. and </a:t>
            </a:r>
            <a:r>
              <a:rPr lang="en-GB" sz="1200" err="1">
                <a:ea typeface="+mn-lt"/>
                <a:cs typeface="+mn-lt"/>
              </a:rPr>
              <a:t>Linial</a:t>
            </a:r>
            <a:r>
              <a:rPr lang="en-GB" sz="1200" dirty="0">
                <a:ea typeface="+mn-lt"/>
                <a:cs typeface="+mn-lt"/>
              </a:rPr>
              <a:t>, M. (2022) ‘</a:t>
            </a:r>
            <a:r>
              <a:rPr lang="en-GB" sz="1200" err="1">
                <a:ea typeface="+mn-lt"/>
                <a:cs typeface="+mn-lt"/>
              </a:rPr>
              <a:t>ProteinBERT</a:t>
            </a:r>
            <a:r>
              <a:rPr lang="en-GB" sz="1200" dirty="0">
                <a:ea typeface="+mn-lt"/>
                <a:cs typeface="+mn-lt"/>
              </a:rPr>
              <a:t>: a universal deep-learning model of protein sequence and function’, </a:t>
            </a:r>
            <a:r>
              <a:rPr lang="en-GB" sz="1200" i="1" dirty="0">
                <a:ea typeface="+mn-lt"/>
                <a:cs typeface="+mn-lt"/>
              </a:rPr>
              <a:t>Bioinformatics</a:t>
            </a:r>
            <a:r>
              <a:rPr lang="en-GB" sz="1200" dirty="0">
                <a:ea typeface="+mn-lt"/>
                <a:cs typeface="+mn-lt"/>
              </a:rPr>
              <a:t>, 38(8), pp. 2102–2110.</a:t>
            </a:r>
            <a:endParaRPr lang="en-US" sz="1200"/>
          </a:p>
          <a:p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170908-9C92-5240-6C78-BA903EE65B5D}"/>
              </a:ext>
            </a:extLst>
          </p:cNvPr>
          <p:cNvSpPr txBox="1"/>
          <p:nvPr/>
        </p:nvSpPr>
        <p:spPr>
          <a:xfrm>
            <a:off x="9240309" y="4522762"/>
            <a:ext cx="2842591" cy="2246769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>
                <a:solidFill>
                  <a:srgbClr val="FFFFFF"/>
                </a:solidFill>
              </a:rPr>
              <a:t>Sources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Jumper et al., 2021 (AlphaFold 2, Nature)</a:t>
            </a:r>
            <a:endParaRPr lang="en-GB" sz="14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 Brandes et al., 2022 (</a:t>
            </a:r>
            <a:r>
              <a:rPr lang="en-GB" sz="1400" dirty="0" err="1">
                <a:solidFill>
                  <a:srgbClr val="FFFFFF"/>
                </a:solidFill>
                <a:ea typeface="+mn-lt"/>
                <a:cs typeface="+mn-lt"/>
              </a:rPr>
              <a:t>ProteinBERT</a:t>
            </a: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)</a:t>
            </a:r>
            <a:endParaRPr lang="en-GB" sz="14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Doench et al., 2016 (Azimuth, Nature Biotechnology)</a:t>
            </a:r>
            <a:endParaRPr lang="en-GB" sz="14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 err="1">
                <a:solidFill>
                  <a:srgbClr val="FFFFFF"/>
                </a:solidFill>
                <a:ea typeface="+mn-lt"/>
                <a:cs typeface="+mn-lt"/>
              </a:rPr>
              <a:t>Listgarten</a:t>
            </a: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 et al., 2018 (Elevation, Genome Biology)</a:t>
            </a:r>
            <a:endParaRPr lang="en-GB" sz="1400" dirty="0">
              <a:solidFill>
                <a:srgbClr val="FFFFFF"/>
              </a:solidFill>
            </a:endParaRPr>
          </a:p>
          <a:p>
            <a:pPr algn="l"/>
            <a:endParaRPr lang="en-GB" sz="1400" dirty="0">
              <a:solidFill>
                <a:srgbClr val="FFFFFF"/>
              </a:solidFill>
            </a:endParaRPr>
          </a:p>
        </p:txBody>
      </p:sp>
      <p:pic>
        <p:nvPicPr>
          <p:cNvPr id="11" name="Picture 10" descr="A diagram of a company&#10;&#10;AI-generated content may be incorrect.">
            <a:extLst>
              <a:ext uri="{FF2B5EF4-FFF2-40B4-BE49-F238E27FC236}">
                <a16:creationId xmlns:a16="http://schemas.microsoft.com/office/drawing/2014/main" id="{44287727-C65D-3C55-D120-EA65FFCD4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12599"/>
            <a:ext cx="3962400" cy="4629150"/>
          </a:xfrm>
          <a:prstGeom prst="rect">
            <a:avLst/>
          </a:prstGeom>
        </p:spPr>
      </p:pic>
      <p:pic>
        <p:nvPicPr>
          <p:cNvPr id="12" name="Picture 11" descr="A green and white sign with a black background&#10;&#10;AI-generated content may be incorrect.">
            <a:extLst>
              <a:ext uri="{FF2B5EF4-FFF2-40B4-BE49-F238E27FC236}">
                <a16:creationId xmlns:a16="http://schemas.microsoft.com/office/drawing/2014/main" id="{ACFA2630-6BBF-2E84-B420-028EECFBA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565" y="1396102"/>
            <a:ext cx="3810000" cy="1757708"/>
          </a:xfrm>
          <a:prstGeom prst="rect">
            <a:avLst/>
          </a:prstGeom>
        </p:spPr>
      </p:pic>
      <p:pic>
        <p:nvPicPr>
          <p:cNvPr id="14" name="Picture 13" descr="A blue and black logo&#10;&#10;AI-generated content may be incorrect.">
            <a:extLst>
              <a:ext uri="{FF2B5EF4-FFF2-40B4-BE49-F238E27FC236}">
                <a16:creationId xmlns:a16="http://schemas.microsoft.com/office/drawing/2014/main" id="{4C00BD74-53C5-F142-1A2D-1BA9B0CC7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7536" y="3542885"/>
            <a:ext cx="3955361" cy="589447"/>
          </a:xfrm>
          <a:prstGeom prst="rect">
            <a:avLst/>
          </a:prstGeom>
        </p:spPr>
      </p:pic>
      <p:pic>
        <p:nvPicPr>
          <p:cNvPr id="17" name="Picture 16" descr="A scissor and dna strand&#10;&#10;AI-generated content may be incorrect.">
            <a:extLst>
              <a:ext uri="{FF2B5EF4-FFF2-40B4-BE49-F238E27FC236}">
                <a16:creationId xmlns:a16="http://schemas.microsoft.com/office/drawing/2014/main" id="{1D3AF3F7-3561-90CE-017D-E1445FBD3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16" y="4231100"/>
            <a:ext cx="3614670" cy="252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0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Disease Diagnosis</vt:lpstr>
      <vt:lpstr>Drug discovery and personalised medicine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455</cp:revision>
  <dcterms:created xsi:type="dcterms:W3CDTF">2025-10-05T11:29:35Z</dcterms:created>
  <dcterms:modified xsi:type="dcterms:W3CDTF">2025-10-05T17:24:30Z</dcterms:modified>
</cp:coreProperties>
</file>